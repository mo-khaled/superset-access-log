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377440" cy="23774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35661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B51A4"/>
                </a:solidFill>
                <a:latin typeface="Calibri"/>
              </a:rPr>
              <a:t>Superset Dashboard Access 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4805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B3038"/>
                </a:solidFill>
                <a:latin typeface="Calibri"/>
              </a:rPr>
              <a:t>From silent chart timeouts to a measured failure rate and load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26E"/>
                </a:solidFill>
                <a:latin typeface="Calibri"/>
              </a:rPr>
              <a:t>End-to-end pipeline flow  |  Superset, Trino, Iceberg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09728"/>
            <a:ext cx="1051560" cy="10515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88719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51A4"/>
                </a:solidFill>
                <a:latin typeface="Calibri"/>
              </a:rPr>
              <a:t>The problem: a silent, intermittent chart error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11064240" cy="27432"/>
          </a:xfrm>
          <a:prstGeom prst="rect">
            <a:avLst/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A626E"/>
                </a:solidFill>
                <a:latin typeface="Calibri"/>
              </a:rPr>
              <a:t>Superset Dashboard Access Log  |  Failure rate &amp; load time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A626E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45920"/>
            <a:ext cx="58521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B3038"/>
                </a:solidFill>
                <a:latin typeface="Calibri"/>
              </a:rPr>
              <a:t>•  A chart query runs longer than the gunicorn timeout (15s).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B3038"/>
                </a:solidFill>
                <a:latin typeface="Calibri"/>
              </a:rPr>
              <a:t>•  Gunicorn kills the worker; the user just sees a generic error.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B3038"/>
                </a:solidFill>
                <a:latin typeface="Calibri"/>
              </a:rPr>
              <a:t>•  Superset logs nothing server-side for that request.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B3038"/>
                </a:solidFill>
                <a:latin typeface="Calibri"/>
              </a:rPr>
              <a:t>•  The error comes and goes: Redis caches a successful result for 300s.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B3038"/>
                </a:solidFill>
                <a:latin typeface="Calibri"/>
              </a:rPr>
              <a:t>•  Goal: measure, per dashboard, how often charts fail (any cause) and how fast they load.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49440" y="1828800"/>
            <a:ext cx="4572000" cy="82296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1B51A4"/>
                </a:solidFill>
                <a:latin typeface="Calibri"/>
              </a:rPr>
              <a:t>User opens dashboard</a:t>
            </a:r>
          </a:p>
          <a:p>
            <a:pPr algn="ctr"/>
            <a:r>
              <a:rPr sz="1200">
                <a:solidFill>
                  <a:srgbClr val="5A626E"/>
                </a:solidFill>
                <a:latin typeface="Calibri"/>
              </a:rPr>
              <a:t>chart query starts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3017520"/>
            <a:ext cx="4572000" cy="82296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1B51A4"/>
                </a:solidFill>
                <a:latin typeface="Calibri"/>
              </a:rPr>
              <a:t>Query takes 18s</a:t>
            </a:r>
          </a:p>
          <a:p>
            <a:pPr algn="ctr"/>
            <a:r>
              <a:rPr sz="1200">
                <a:solidFill>
                  <a:srgbClr val="5A626E"/>
                </a:solidFill>
                <a:latin typeface="Calibri"/>
              </a:rPr>
              <a:t>gunicorn limit is 15s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206240"/>
            <a:ext cx="4572000" cy="822960"/>
          </a:xfrm>
          <a:prstGeom prst="roundRect">
            <a:avLst>
              <a:gd name="adj" fmla="val 12000"/>
            </a:avLst>
          </a:prstGeom>
          <a:solidFill>
            <a:srgbClr val="FBE9E7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C0392B"/>
                </a:solidFill>
                <a:latin typeface="Calibri"/>
              </a:rPr>
              <a:t>Worker SIGKILLed</a:t>
            </a:r>
          </a:p>
          <a:p>
            <a:pPr algn="ctr"/>
            <a:r>
              <a:rPr sz="1200">
                <a:solidFill>
                  <a:srgbClr val="5A626E"/>
                </a:solidFill>
                <a:latin typeface="Calibri"/>
              </a:rPr>
              <a:t>no Superset log row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0" y="539496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1B51A4"/>
                </a:solidFill>
                <a:latin typeface="Calibri"/>
              </a:rPr>
              <a:t>Generic error in browser</a:t>
            </a:r>
          </a:p>
          <a:p>
            <a:pPr algn="ctr"/>
            <a:r>
              <a:rPr sz="1200">
                <a:solidFill>
                  <a:srgbClr val="5A626E"/>
                </a:solidFill>
                <a:latin typeface="Calibri"/>
              </a:rPr>
              <a:t>only the browser knows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235440" y="2651760"/>
            <a:ext cx="0" cy="365760"/>
          </a:xfrm>
          <a:prstGeom prst="line">
            <a:avLst/>
          </a:prstGeom>
          <a:ln w="25400">
            <a:solidFill>
              <a:srgbClr val="1B51A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235440" y="3840480"/>
            <a:ext cx="0" cy="365760"/>
          </a:xfrm>
          <a:prstGeom prst="line">
            <a:avLst/>
          </a:prstGeom>
          <a:ln w="25400">
            <a:solidFill>
              <a:srgbClr val="1B51A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235440" y="5029200"/>
            <a:ext cx="0" cy="365760"/>
          </a:xfrm>
          <a:prstGeom prst="line">
            <a:avLst/>
          </a:prstGeom>
          <a:ln w="25400">
            <a:solidFill>
              <a:srgbClr val="1B51A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09728"/>
            <a:ext cx="1051560" cy="10515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88719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51A4"/>
                </a:solidFill>
                <a:latin typeface="Calibri"/>
              </a:rPr>
              <a:t>Architecture: two small stacks side by side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11064240" cy="27432"/>
          </a:xfrm>
          <a:prstGeom prst="rect">
            <a:avLst/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A626E"/>
                </a:solidFill>
                <a:latin typeface="Calibri"/>
              </a:rPr>
              <a:t>Superset Dashboard Access Log  |  Failure rate &amp; load time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A626E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0876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51A4"/>
                </a:solidFill>
                <a:latin typeface="Calibri"/>
              </a:rPr>
              <a:t>Main stack (docker-compose.yml)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2024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Superset 4.1.4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gunicorn :8089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92024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Postgres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metadata + logs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92024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Redis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cache + Celery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Pipeline container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ETL + seed + repro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34640" y="301752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Superset Celery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worker + beat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301752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Bootstrap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dashboards (one-shot)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2062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51A4"/>
                </a:solidFill>
                <a:latin typeface="Calibri"/>
              </a:rPr>
              <a:t>Lakehouse stand-in (lakehouse/docker-compose.yml)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MinIO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warehouse bucket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461772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Iceberg REST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catalog :8183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461772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Trino 483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SQL :8085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51760" y="5029200"/>
            <a:ext cx="182880" cy="0"/>
          </a:xfrm>
          <a:prstGeom prst="line">
            <a:avLst/>
          </a:prstGeom>
          <a:ln w="25400">
            <a:solidFill>
              <a:srgbClr val="1B51A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937760" y="5029200"/>
            <a:ext cx="182880" cy="0"/>
          </a:xfrm>
          <a:prstGeom prst="line">
            <a:avLst/>
          </a:prstGeom>
          <a:ln w="25400">
            <a:solidFill>
              <a:srgbClr val="1B51A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680960" y="1920240"/>
            <a:ext cx="40233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3038"/>
                </a:solidFill>
                <a:latin typeface="Calibri"/>
              </a:rPr>
              <a:t>•  Lakehouse is a stand-in for the bank's real Iceberg + Trino platform.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3038"/>
                </a:solidFill>
                <a:latin typeface="Calibri"/>
              </a:rPr>
              <a:t>•  connect-pipeline.yml joins pipeline, superset and bootstrap to the lakehouse network.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3038"/>
                </a:solidFill>
                <a:latin typeface="Calibri"/>
              </a:rPr>
              <a:t>•  Iceberg is the only store for the pipeline: no MySQL.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3038"/>
                </a:solidFill>
                <a:latin typeface="Calibri"/>
              </a:rPr>
              <a:t>•  Superset gets a Trino connection via trino[sqlalchemy].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09728"/>
            <a:ext cx="1051560" cy="10515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88719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51A4"/>
                </a:solidFill>
                <a:latin typeface="Calibri"/>
              </a:rPr>
              <a:t>End-to-end data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11064240" cy="27432"/>
          </a:xfrm>
          <a:prstGeom prst="rect">
            <a:avLst/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A626E"/>
                </a:solidFill>
                <a:latin typeface="Calibri"/>
              </a:rPr>
              <a:t>Superset Dashboard Access Log  |  Failure rate &amp; load time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A626E"/>
                </a:solidFill>
                <a:latin typeface="Calibri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1645920" cy="118872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1  Traffic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browser + seed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94560" y="2697480"/>
            <a:ext cx="228600" cy="0"/>
          </a:xfrm>
          <a:prstGeom prst="line">
            <a:avLst/>
          </a:prstGeom>
          <a:ln w="25400">
            <a:solidFill>
              <a:srgbClr val="1B51A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423160" y="2103120"/>
            <a:ext cx="1645920" cy="118872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2  Superset logs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logs table + stderr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069080" y="2697480"/>
            <a:ext cx="228599" cy="0"/>
          </a:xfrm>
          <a:prstGeom prst="line">
            <a:avLst/>
          </a:prstGeom>
          <a:ln w="25400">
            <a:solidFill>
              <a:srgbClr val="1B51A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297679" y="2103120"/>
            <a:ext cx="1645920" cy="118872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3  ETL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sync_logs + ingest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43599" y="2697480"/>
            <a:ext cx="228600" cy="0"/>
          </a:xfrm>
          <a:prstGeom prst="line">
            <a:avLst/>
          </a:prstGeom>
          <a:ln w="25400">
            <a:solidFill>
              <a:srgbClr val="1B51A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172199" y="2103120"/>
            <a:ext cx="1645920" cy="118872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4  Classify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category + signature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18119" y="2697480"/>
            <a:ext cx="228600" cy="0"/>
          </a:xfrm>
          <a:prstGeom prst="line">
            <a:avLst/>
          </a:prstGeom>
          <a:ln w="25400">
            <a:solidFill>
              <a:srgbClr val="1B51A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046719" y="2103120"/>
            <a:ext cx="1645920" cy="118872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5  Iceberg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MERGE via Trino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92640" y="2697480"/>
            <a:ext cx="228599" cy="0"/>
          </a:xfrm>
          <a:prstGeom prst="line">
            <a:avLst/>
          </a:prstGeom>
          <a:ln w="25400">
            <a:solidFill>
              <a:srgbClr val="1B51A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921240" y="2103120"/>
            <a:ext cx="1645920" cy="118872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6  Superset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reliability 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749039"/>
            <a:ext cx="1106424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B3038"/>
                </a:solidFill>
                <a:latin typeface="Calibri"/>
              </a:rPr>
              <a:t>•  run_etl.sh is one cycle, scheduled every 10 minutes: iceberg_init.py, sync_logs.py, then container logs piped into ingest_container_errors.py.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B3038"/>
                </a:solidFill>
                <a:latin typeface="Calibri"/>
              </a:rPr>
              <a:t>•  Every write is idempotent (MERGE by key, stable dedupe_key), so re-reads never duplicate rows.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B3038"/>
                </a:solidFill>
                <a:latin typeface="Calibri"/>
              </a:rPr>
              <a:t>•  Watermark = max(source_dttm) of raw_log_landing, written last, so it never gets ahead of the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09728"/>
            <a:ext cx="1051560" cy="10515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88719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51A4"/>
                </a:solidFill>
                <a:latin typeface="Calibri"/>
              </a:rPr>
              <a:t>Log sources and server-side tracing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11064240" cy="27432"/>
          </a:xfrm>
          <a:prstGeom prst="rect">
            <a:avLst/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A626E"/>
                </a:solidFill>
                <a:latin typeface="Calibri"/>
              </a:rPr>
              <a:t>Superset Dashboard Access Log  |  Failure rate &amp; load time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A626E"/>
                </a:solidFill>
                <a:latin typeface="Calibri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7360"/>
            <a:ext cx="3474720" cy="109728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Superset logs table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read through /api/v1/log/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08960"/>
            <a:ext cx="3474720" cy="109728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Browser events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mount_dashboard, load_chart, has_err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80560"/>
            <a:ext cx="3474720" cy="109728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Container stdout/stderr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superset + superset-worker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737360"/>
            <a:ext cx="72237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3038"/>
                </a:solidFill>
                <a:latin typeface="Calibri"/>
              </a:rPr>
              <a:t>•  Superset 4.1.4 browsers write action='log' with json.event_name; the ETL maps these to dashboard_view / chart_view.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B3038"/>
                </a:solidFill>
                <a:latin typeface="Calibri"/>
              </a:rPr>
              <a:t>•  FLASK_APP_MUTATOR emits REQTRACE for every request start (pid, user, request id, url).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B3038"/>
                </a:solidFill>
                <a:latin typeface="Calibri"/>
              </a:rPr>
              <a:t>•  REQEND marks dashboard/chart requests ending in HTTP 400+; REQEXC marks unhandled exceptions.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B3038"/>
                </a:solidFill>
                <a:latin typeface="Calibri"/>
              </a:rPr>
              <a:t>•  A killed request never reaches an end hook, so REQTRACE is the only trace of it.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B3038"/>
                </a:solidFill>
                <a:latin typeface="Calibri"/>
              </a:rPr>
              <a:t>•  A gunicorn timeout line carries only a pid; it is joined to that pid's last REQTRACE (max 120s old) to recover user, dashboard and chart.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09728"/>
            <a:ext cx="1051560" cy="10515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88719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51A4"/>
                </a:solidFill>
                <a:latin typeface="Calibri"/>
              </a:rPr>
              <a:t>ETL: incremental, safe, repeatable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11064240" cy="27432"/>
          </a:xfrm>
          <a:prstGeom prst="rect">
            <a:avLst/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A626E"/>
                </a:solidFill>
                <a:latin typeface="Calibri"/>
              </a:rPr>
              <a:t>Superset Dashboard Access Log  |  Failure rate &amp; load time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A626E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45920"/>
            <a:ext cx="5486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B3038"/>
                </a:solidFill>
                <a:latin typeface="Calibri"/>
              </a:rPr>
              <a:t>•  sync_logs.py pulls dttm &gt; watermark, starting 24h earlier as a lookback.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B3038"/>
                </a:solidFill>
                <a:latin typeface="Calibri"/>
              </a:rPr>
              <a:t>•  A lease row in Iceberg (etl_lock) keeps it to a single writer; commit conflicts are retried.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B3038"/>
                </a:solidFill>
                <a:latin typeface="Calibri"/>
              </a:rPr>
              <a:t>•  Facts and dims are written first, raw_log_landing last; rows already stored are skipped.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B3038"/>
                </a:solidFill>
                <a:latin typeface="Calibri"/>
              </a:rPr>
              <a:t>•  Browser load_chart with has_err becomes a fact_error_events row (source=browser).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645920"/>
            <a:ext cx="53949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B3038"/>
                </a:solidFill>
                <a:latin typeface="Calibri"/>
              </a:rPr>
              <a:t>•  Reconciliation: if Superset has more rows than the landing table, re-pull once with a warning.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B3038"/>
                </a:solidFill>
                <a:latin typeface="Calibri"/>
              </a:rPr>
              <a:t>•  --since and --full force a backfill; future-dated rows never move the watermark.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B3038"/>
                </a:solidFill>
                <a:latin typeface="Calibri"/>
              </a:rPr>
              <a:t>•  backfill_iceberg.py replays history through the same code and can reclassify old errors.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B3038"/>
                </a:solidFill>
                <a:latin typeface="Calibri"/>
              </a:rPr>
              <a:t>•  acceptance_watermark.py tests rows 3h old, 10 days old and tomorrow.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09728"/>
            <a:ext cx="1051560" cy="10515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88719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51A4"/>
                </a:solidFill>
                <a:latin typeface="Calibri"/>
              </a:rPr>
              <a:t>Every failure is stored: category, signature, raw message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11064240" cy="27432"/>
          </a:xfrm>
          <a:prstGeom prst="rect">
            <a:avLst/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A626E"/>
                </a:solidFill>
                <a:latin typeface="Calibri"/>
              </a:rPr>
              <a:t>Superset Dashboard Access Log  |  Failure rate &amp; load time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A626E"/>
                </a:solidFill>
                <a:latin typeface="Calibri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45920"/>
            <a:ext cx="2606040" cy="64008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timeout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645920"/>
            <a:ext cx="2606040" cy="64008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worker_failure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79" y="1645920"/>
            <a:ext cx="2606040" cy="64008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connection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399" y="1645920"/>
            <a:ext cx="2606040" cy="64008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permission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2606040" cy="64008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query_error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468880"/>
            <a:ext cx="2606040" cy="64008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not_found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79" y="2468880"/>
            <a:ext cx="2606040" cy="64008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rate_limit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399" y="2468880"/>
            <a:ext cx="2606040" cy="64008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data_error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657600" cy="64008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B51A4"/>
                </a:solidFill>
                <a:latin typeface="Calibri"/>
              </a:rPr>
              <a:t>client_error / server_error</a:t>
            </a:r>
          </a:p>
          <a:p>
            <a:pPr algn="ctr"/>
            <a:r>
              <a:rPr sz="1000">
                <a:solidFill>
                  <a:srgbClr val="5A626E"/>
                </a:solidFill>
                <a:latin typeface="Calibri"/>
              </a:rPr>
              <a:t>HTTP status fallbacks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3383280"/>
            <a:ext cx="3657600" cy="640080"/>
          </a:xfrm>
          <a:prstGeom prst="roundRect">
            <a:avLst>
              <a:gd name="adj" fmla="val 12000"/>
            </a:avLst>
          </a:prstGeom>
          <a:solidFill>
            <a:srgbClr val="FFF4DD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9A6200"/>
                </a:solidFill>
                <a:latin typeface="Calibri"/>
              </a:rPr>
              <a:t>unclassified</a:t>
            </a:r>
          </a:p>
          <a:p>
            <a:pPr algn="ctr"/>
            <a:r>
              <a:rPr sz="1000">
                <a:solidFill>
                  <a:srgbClr val="5A626E"/>
                </a:solidFill>
                <a:latin typeface="Calibri"/>
              </a:rPr>
              <a:t>stored, never dropped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97680"/>
            <a:ext cx="110642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3038"/>
                </a:solidFill>
                <a:latin typeface="Calibri"/>
              </a:rPr>
              <a:t>•  error_classify.py: first matching rule wins; row_category_and_signature() is the single function every writer uses.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B3038"/>
                </a:solidFill>
                <a:latin typeface="Calibri"/>
              </a:rPr>
              <a:t>•  Signature = message with numbers, UUIDs, ids, timestamps, IPs and quoted values stripped, so the same cause groups together.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B3038"/>
                </a:solidFill>
                <a:latin typeface="Calibri"/>
              </a:rPr>
              <a:t>•  A growing 'unclassified' signature in Top Error Messages is how a new cause gets noticed.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09728"/>
            <a:ext cx="1051560" cy="10515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88719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51A4"/>
                </a:solidFill>
                <a:latin typeface="Calibri"/>
              </a:rPr>
              <a:t>Iceberg tables and the failure-rate 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11064240" cy="27432"/>
          </a:xfrm>
          <a:prstGeom prst="rect">
            <a:avLst/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A626E"/>
                </a:solidFill>
                <a:latin typeface="Calibri"/>
              </a:rPr>
              <a:t>Superset Dashboard Access Log  |  Failure rate &amp; load time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A626E"/>
                </a:solidFill>
                <a:latin typeface="Calibri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736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fact_access_events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day(event_ts), duration_ms, is_error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fact_error_events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source, category, signature, message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raw_log_landing + dims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raw copy, dashboards, users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2834640"/>
            <a:ext cx="2743200" cy="1097280"/>
          </a:xfrm>
          <a:prstGeom prst="roundRect">
            <a:avLst>
              <a:gd name="adj" fmla="val 12000"/>
            </a:avLst>
          </a:prstGeom>
          <a:solidFill>
            <a:srgbClr val="1B51A4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vw_chart_failure_rate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per day and dashboard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114800" y="2194560"/>
            <a:ext cx="640080" cy="1005840"/>
          </a:xfrm>
          <a:prstGeom prst="line">
            <a:avLst/>
          </a:prstGeom>
          <a:ln w="25400">
            <a:solidFill>
              <a:srgbClr val="1B51A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114800" y="3291840"/>
            <a:ext cx="640080" cy="91440"/>
          </a:xfrm>
          <a:prstGeom prst="line">
            <a:avLst/>
          </a:prstGeom>
          <a:ln w="25400">
            <a:solidFill>
              <a:srgbClr val="1B51A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4114800" y="3566160"/>
            <a:ext cx="640080" cy="822960"/>
          </a:xfrm>
          <a:prstGeom prst="line">
            <a:avLst/>
          </a:prstGeom>
          <a:ln w="25400">
            <a:solidFill>
              <a:srgbClr val="1B51A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863840" y="1737360"/>
            <a:ext cx="38404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3038"/>
                </a:solidFill>
                <a:latin typeface="Calibri"/>
              </a:rPr>
              <a:t>•  Parquet, format v2, MERGE INTO via iceberg_sink.py; daily compaction and snapshot expiry.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3038"/>
                </a:solidFill>
                <a:latin typeface="Calibri"/>
              </a:rPr>
              <a:t>•  chart_loads, rated_loads, failed_loads, server_kills, server_errors.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3038"/>
                </a:solidFill>
                <a:latin typeface="Calibri"/>
              </a:rPr>
              <a:t>•  Permission denials excluded unless AUTHZ_COUNTS_AS_FAILURE.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3038"/>
                </a:solidFill>
                <a:latin typeface="Calibri"/>
              </a:rPr>
              <a:t>•  Future-dated rows excluded.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09728"/>
            <a:ext cx="1051560" cy="10515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88719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51A4"/>
                </a:solidFill>
                <a:latin typeface="Calibri"/>
              </a:rPr>
              <a:t>Superset dashboards and metric definitions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11064240" cy="27432"/>
          </a:xfrm>
          <a:prstGeom prst="rect">
            <a:avLst/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A626E"/>
                </a:solidFill>
                <a:latin typeface="Calibri"/>
              </a:rPr>
              <a:t>Superset Dashboard Access Log  |  Failure rate &amp; load time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A626E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51A4"/>
                </a:solidFill>
                <a:latin typeface="Calibri"/>
              </a:rPr>
              <a:t>Dashboard Reliability and Speed (Trino)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011680"/>
            <a:ext cx="548640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3038"/>
                </a:solidFill>
                <a:latin typeface="Calibri"/>
              </a:rPr>
              <a:t>•  Failure rate: daily / weekly / monthly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B3038"/>
                </a:solidFill>
                <a:latin typeface="Calibri"/>
              </a:rPr>
              <a:t>•  Failed vs total chart loads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B3038"/>
                </a:solidFill>
                <a:latin typeface="Calibri"/>
              </a:rPr>
              <a:t>•  Failure rate by dashboard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B3038"/>
                </a:solidFill>
                <a:latin typeface="Calibri"/>
              </a:rPr>
              <a:t>•  Chart load time and slow loads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B3038"/>
                </a:solidFill>
                <a:latin typeface="Calibri"/>
              </a:rPr>
              <a:t>•  Errors by category, Top error messages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B3038"/>
                </a:solidFill>
                <a:latin typeface="Calibri"/>
              </a:rPr>
              <a:t>•  Chart Load Errors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51A4"/>
                </a:solidFill>
                <a:latin typeface="Calibri"/>
              </a:rPr>
              <a:t>Definitions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011680"/>
            <a:ext cx="53949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3038"/>
                </a:solidFill>
                <a:latin typeface="Calibri"/>
              </a:rPr>
              <a:t>•  Failure rate = SUM(failed_loads) / SUM(rated_loads).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3038"/>
                </a:solidFill>
                <a:latin typeface="Calibri"/>
              </a:rPr>
              <a:t>•  Load time = avg and p95 of browser duration_ms, successful loads only (a timeout always reads ~15s).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3038"/>
                </a:solidFill>
                <a:latin typeface="Calibri"/>
              </a:rPr>
              <a:t>•  Slow-load rate = successful loads above SLOW_LOAD_MS (5000).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3038"/>
                </a:solidFill>
                <a:latin typeface="Calibri"/>
              </a:rPr>
              <a:t>•  A lower bound: the browser reports only while the tab stays open.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3038"/>
                </a:solidFill>
                <a:latin typeface="Calibri"/>
              </a:rPr>
              <a:t>•  Also: Superset Usage Analytics dashboard (Iceberg) for views and users.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09728"/>
            <a:ext cx="1051560" cy="10515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88719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51A4"/>
                </a:solidFill>
                <a:latin typeface="Calibri"/>
              </a:rPr>
              <a:t>Demo: reproducing the intermittent error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11064240" cy="27432"/>
          </a:xfrm>
          <a:prstGeom prst="rect">
            <a:avLst/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A626E"/>
                </a:solidFill>
                <a:latin typeface="Calibri"/>
              </a:rPr>
              <a:t>Superset Dashboard Access Log  |  Failure rate &amp; load time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A626E"/>
                </a:solidFill>
                <a:latin typeface="Calibri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7360"/>
            <a:ext cx="1645920" cy="118872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Open :8089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fails at ~15s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94560" y="2331720"/>
            <a:ext cx="228600" cy="0"/>
          </a:xfrm>
          <a:prstGeom prst="line">
            <a:avLst/>
          </a:prstGeom>
          <a:ln w="25400">
            <a:solidFill>
              <a:srgbClr val="1B51A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423160" y="1737360"/>
            <a:ext cx="1645920" cy="118872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show_evidence.sh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WORKER TIMEOUT, no log row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069079" y="2331720"/>
            <a:ext cx="228600" cy="0"/>
          </a:xfrm>
          <a:prstGeom prst="line">
            <a:avLst/>
          </a:prstGeom>
          <a:ln w="25400">
            <a:solidFill>
              <a:srgbClr val="1B51A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297679" y="1737360"/>
            <a:ext cx="1645920" cy="118872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Run ETL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browser + gunicorn rows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43600" y="2331720"/>
            <a:ext cx="228600" cy="0"/>
          </a:xfrm>
          <a:prstGeom prst="line">
            <a:avLst/>
          </a:prstGeom>
          <a:ln w="25400">
            <a:solidFill>
              <a:srgbClr val="1B51A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172199" y="1737360"/>
            <a:ext cx="1645920" cy="118872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Open :8090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60s limit, succeeds at 18s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18119" y="2331720"/>
            <a:ext cx="228600" cy="0"/>
          </a:xfrm>
          <a:prstGeom prst="line">
            <a:avLst/>
          </a:prstGeom>
          <a:ln w="25400">
            <a:solidFill>
              <a:srgbClr val="1B51A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046719" y="1737360"/>
            <a:ext cx="1645920" cy="118872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Refresh :8089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instant (cache hit)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92640" y="2331720"/>
            <a:ext cx="228600" cy="0"/>
          </a:xfrm>
          <a:prstGeom prst="line">
            <a:avLst/>
          </a:prstGeom>
          <a:ln w="25400">
            <a:solidFill>
              <a:srgbClr val="1B51A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921240" y="1737360"/>
            <a:ext cx="1645920" cy="118872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B51A4"/>
                </a:solidFill>
                <a:latin typeface="Calibri"/>
              </a:rPr>
              <a:t>After 300s</a:t>
            </a:r>
          </a:p>
          <a:p>
            <a:pPr algn="ctr"/>
            <a:r>
              <a:rPr sz="1100">
                <a:solidFill>
                  <a:srgbClr val="5A626E"/>
                </a:solidFill>
                <a:latin typeface="Calibri"/>
              </a:rPr>
              <a:t>error returns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383280"/>
            <a:ext cx="110642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3038"/>
                </a:solidFill>
                <a:latin typeface="Calibri"/>
              </a:rPr>
              <a:t>•  Setup: gunicorn timeout 15s, slow dataset sleeps 18s (pg_sleep), chart cache 300s.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B3038"/>
                </a:solidFill>
                <a:latin typeface="Calibri"/>
              </a:rPr>
              <a:t>•  The no-limit server uses CACHE_KEY_PREFIX so it does not read the main server's cached 15s browser timeout.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B3038"/>
                </a:solidFill>
                <a:latin typeface="Calibri"/>
              </a:rPr>
              <a:t>•  Chart results share the superset_data_ prefix, so a result computed on :8090 is served on :8089.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B3038"/>
                </a:solidFill>
                <a:latin typeface="Calibri"/>
              </a:rPr>
              <a:t>•  Teardown: docker rm -f superset-nolimit.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09728"/>
            <a:ext cx="1051560" cy="10515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88719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51A4"/>
                </a:solidFill>
                <a:latin typeface="Calibri"/>
              </a:rPr>
              <a:t>The fix and the lesson: order the timeouts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11064240" cy="27432"/>
          </a:xfrm>
          <a:prstGeom prst="rect">
            <a:avLst/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A626E"/>
                </a:solidFill>
                <a:latin typeface="Calibri"/>
              </a:rPr>
              <a:t>Superset Dashboard Access Log  |  Failure rate &amp; load time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A626E"/>
                </a:solidFill>
                <a:latin typeface="Calibri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7360"/>
            <a:ext cx="5669280" cy="73152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B51A4"/>
                </a:solidFill>
                <a:latin typeface="Calibri"/>
              </a:rPr>
              <a:t>Database statement_timeout (fails first)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606039"/>
            <a:ext cx="5212080" cy="73152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B51A4"/>
                </a:solidFill>
                <a:latin typeface="Calibri"/>
              </a:rPr>
              <a:t>gunicorn timeout (15s in the lab)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3474720"/>
            <a:ext cx="4754880" cy="73152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B51A4"/>
                </a:solidFill>
                <a:latin typeface="Calibri"/>
              </a:rPr>
              <a:t>Proxy / load balancer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20240" y="4343400"/>
            <a:ext cx="4297680" cy="73152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9050">
            <a:solidFill>
              <a:srgbClr val="1B51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1B51A4"/>
                </a:solidFill>
                <a:latin typeface="Calibri"/>
              </a:rPr>
              <a:t>CDN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1737360"/>
            <a:ext cx="50292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3038"/>
                </a:solidFill>
                <a:latin typeface="Calibri"/>
              </a:rPr>
              <a:t>•  Fail inside-out: the database should give up first so Superset raises and logs a real exception.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3038"/>
                </a:solidFill>
                <a:latin typeface="Calibri"/>
              </a:rPr>
              <a:t>•  Fix script: intermittent-error/fix/apply_fix.py (not applied in the demo, so the problem stays visible).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3038"/>
                </a:solidFill>
                <a:latin typeface="Calibri"/>
              </a:rPr>
              <a:t>•  gunicorn timeout only applies to sync workers; gthread hides stalls.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3038"/>
                </a:solidFill>
                <a:latin typeface="Calibri"/>
              </a:rPr>
              <a:t>•  Even with the fix, the pipeline keeps the browser-side view, so nothing is silent again.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09728"/>
            <a:ext cx="1051560" cy="10515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88719" y="457200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51A4"/>
                </a:solidFill>
                <a:latin typeface="Calibri"/>
              </a:rPr>
              <a:t>How to run it, and next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11064240" cy="27432"/>
          </a:xfrm>
          <a:prstGeom prst="rect">
            <a:avLst/>
          </a:prstGeom>
          <a:solidFill>
            <a:srgbClr val="1B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A626E"/>
                </a:solidFill>
                <a:latin typeface="Calibri"/>
              </a:rPr>
              <a:t>Superset Dashboard Access Log  |  Failure rate &amp; load time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A626E"/>
                </a:solidFill>
                <a:latin typeface="Calibri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45920"/>
            <a:ext cx="6583680" cy="4480560"/>
          </a:xfrm>
          <a:prstGeom prst="roundRect">
            <a:avLst>
              <a:gd name="adj" fmla="val 4000"/>
            </a:avLst>
          </a:prstGeom>
          <a:solidFill>
            <a:srgbClr val="1E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737360"/>
            <a:ext cx="63093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DDE6F5"/>
                </a:solidFill>
                <a:latin typeface="Calibri"/>
              </a:rPr>
              <a:t>cp .env.example .env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DDE6F5"/>
                </a:solidFill>
                <a:latin typeface="Calibri"/>
              </a:rPr>
              <a:t>docker compose -f lakehouse/docker-compose.yml up -d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DDE6F5"/>
                </a:solidFill>
                <a:latin typeface="Calibri"/>
              </a:rPr>
              <a:t>docker compose -f docker-compose.yml \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DDE6F5"/>
                </a:solidFill>
                <a:latin typeface="Calibri"/>
              </a:rPr>
              <a:t>   -f lakehouse/connect-pipeline.yml up -d --build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DDE6F5"/>
                </a:solidFill>
                <a:latin typeface="Calibri"/>
              </a:rPr>
              <a:t>docker compose exec -T pipeline python etl/iceberg_init.py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DDE6F5"/>
                </a:solidFill>
                <a:latin typeface="Calibri"/>
              </a:rPr>
              <a:t>bash access-log-pipeline/run_etl.sh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DDE6F5"/>
                </a:solidFill>
                <a:latin typeface="Calibri"/>
              </a:rPr>
              <a:t>docker compose ... run --rm superset-bootstrap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DDE6F5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DDE6F5"/>
                </a:solidFill>
                <a:latin typeface="Calibri"/>
              </a:rPr>
              <a:t>Superset  http://localhost:8089  (admin/admin)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1645920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51A4"/>
                </a:solidFill>
                <a:latin typeface="Calibri"/>
              </a:rPr>
              <a:t>Next steps for the bank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103120"/>
            <a:ext cx="42062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3038"/>
                </a:solidFill>
                <a:latin typeface="Calibri"/>
              </a:rPr>
              <a:t>•  Confirm Trino version, permissions, TLS.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3038"/>
                </a:solidFill>
                <a:latin typeface="Calibri"/>
              </a:rPr>
              <a:t>•  Decide who owns Iceberg compaction.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3038"/>
                </a:solidFill>
                <a:latin typeface="Calibri"/>
              </a:rPr>
              <a:t>•  Schedule via Kubernetes CronJob (concurrencyPolicy Forbid) or Airflow; alert on etl_run_log staleness.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3038"/>
                </a:solidFill>
                <a:latin typeface="Calibri"/>
              </a:rPr>
              <a:t>•  Automate container-log shipping (today a manual pipe).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3038"/>
                </a:solidFill>
                <a:latin typeface="Calibri"/>
              </a:rPr>
              <a:t>•  Populate source_ip (currently empty).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